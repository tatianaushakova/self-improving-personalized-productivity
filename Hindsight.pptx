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FBBF24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Focused work</c:v>
                </c:pt>
                <c:pt idx="1">
                  <c:v>Meetings/email</c:v>
                </c:pt>
                <c:pt idx="2">
                  <c:v>YouTube</c:v>
                </c:pt>
                <c:pt idx="3">
                  <c:v>Social feeds</c:v>
                </c:pt>
                <c:pt idx="4">
                  <c:v>Reading</c:v>
                </c:pt>
                <c:pt idx="5">
                  <c:v>Lost / unaccounted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29</c:v>
                </c:pt>
                <c:pt idx="1">
                  <c:v>14</c:v>
                </c:pt>
                <c:pt idx="2">
                  <c:v>17</c:v>
                </c:pt>
                <c:pt idx="3">
                  <c:v>12</c:v>
                </c:pt>
                <c:pt idx="4">
                  <c:v>8</c:v>
                </c:pt>
                <c:pt idx="5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029200" cy="5029200"/>
          </a:xfrm>
          <a:prstGeom prst="ellipse">
            <a:avLst/>
          </a:prstGeom>
          <a:solidFill>
            <a:srgbClr val="1A2B57"/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4297680"/>
            <a:ext cx="4754880" cy="4754880"/>
          </a:xfrm>
          <a:prstGeom prst="ellipse">
            <a:avLst/>
          </a:prstGeom>
          <a:solidFill>
            <a:srgbClr val="1A2B5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25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/  SELF-IMPROVING AGENTS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Hindsight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C9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pocket advisor that learns </a:t>
            </a:r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actually spend your time and money</a:t>
            </a:r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C9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then tells you the easy changes that buy it back.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43484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1A2B57"/>
          </a:solidFill>
          <a:ln w="12700">
            <a:solidFill>
              <a:srgbClr val="3345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46177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4718304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4434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time breakdown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51960" y="443484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1A2B57"/>
          </a:solidFill>
          <a:ln w="12700">
            <a:solidFill>
              <a:srgbClr val="33457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53128" y="46177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4718304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83480" y="4434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labels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589520" y="443484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1A2B57"/>
          </a:solidFill>
          <a:ln w="12700">
            <a:solidFill>
              <a:srgbClr val="33457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90688" y="46177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2" y="4718304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4434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Low-willpower wins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Tatiana Tushakova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leak hours we never notice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280160" y="14173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drains in small, invisible pieces. By the time you feel it, you can't reconstruct where it went — or why.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80160" y="2468880"/>
            <a:ext cx="4937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08760" y="2724912"/>
            <a:ext cx="457200" cy="457200"/>
          </a:xfrm>
          <a:prstGeom prst="ellipse">
            <a:avLst/>
          </a:prstGeom>
          <a:solidFill>
            <a:srgbClr val="FF3D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283464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94560" y="261518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feeds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one more video”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280160" y="3611880"/>
            <a:ext cx="4937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508760" y="386791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" y="397764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94560" y="375818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Doom-scrolling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context-switch tax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1280160" y="4754880"/>
            <a:ext cx="4937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508760" y="501091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488" y="512064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94560" y="490118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 resets focus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675120" y="1417320"/>
            <a:ext cx="493776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949440" y="1600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typical day, after the fact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812280" y="1965960"/>
          <a:ext cx="4663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 15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INSTEAD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day, down to the minute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246120" cy="4709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APPS GIVE YOU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5h 12m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651760"/>
            <a:ext cx="2743200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651760"/>
            <a:ext cx="2139696" cy="14630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200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2h 04m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" y="3566160"/>
            <a:ext cx="2743200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3566160"/>
            <a:ext cx="850392" cy="14630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114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1h 38m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7240" y="4480560"/>
            <a:ext cx="2743200" cy="14630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4480560"/>
            <a:ext cx="685800" cy="14630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5532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when. No why. No fix.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977640" y="1508760"/>
            <a:ext cx="768096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297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79392" y="2340864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0" y="22128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09:25–11:05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126480" y="22128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work: focused coding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0104120" y="2258568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14B8A6"/>
          </a:solidFill>
          <a:ln/>
        </p:spPr>
      </p:sp>
      <p:sp>
        <p:nvSpPr>
          <p:cNvPr id="24" name="Text 21"/>
          <p:cNvSpPr/>
          <p:nvPr/>
        </p:nvSpPr>
        <p:spPr>
          <a:xfrm>
            <a:off x="10104120" y="22585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279392" y="2830068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0" y="270205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11:15–11:40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126480" y="27020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sister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0104120" y="2747772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6366F1"/>
          </a:solidFill>
          <a:ln/>
        </p:spPr>
      </p:sp>
      <p:sp>
        <p:nvSpPr>
          <p:cNvPr id="29" name="Text 26"/>
          <p:cNvSpPr/>
          <p:nvPr/>
        </p:nvSpPr>
        <p:spPr>
          <a:xfrm>
            <a:off x="10104120" y="274777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279392" y="3319272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0" y="319125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11:40–12:50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126480" y="31912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 resumed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0104120" y="3236976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14B8A6"/>
          </a:solidFill>
          <a:ln/>
        </p:spPr>
      </p:sp>
      <p:sp>
        <p:nvSpPr>
          <p:cNvPr id="34" name="Text 31"/>
          <p:cNvSpPr/>
          <p:nvPr/>
        </p:nvSpPr>
        <p:spPr>
          <a:xfrm>
            <a:off x="10104120" y="32369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79392" y="380847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0" y="368046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12:50–13:25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126480" y="36804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at desk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0104120" y="3726180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</p:sp>
      <p:sp>
        <p:nvSpPr>
          <p:cNvPr id="39" name="Text 36"/>
          <p:cNvSpPr/>
          <p:nvPr/>
        </p:nvSpPr>
        <p:spPr>
          <a:xfrm>
            <a:off x="10104120" y="37261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114800" y="4151376"/>
            <a:ext cx="7406640" cy="43891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1" name="Shape 38"/>
          <p:cNvSpPr/>
          <p:nvPr/>
        </p:nvSpPr>
        <p:spPr>
          <a:xfrm>
            <a:off x="4279392" y="42976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39"/>
          <p:cNvSpPr/>
          <p:nvPr/>
        </p:nvSpPr>
        <p:spPr>
          <a:xfrm>
            <a:off x="4572000" y="416966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14:35–15:30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6126480" y="41696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office for a little break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10104120" y="4215384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</p:sp>
      <p:sp>
        <p:nvSpPr>
          <p:cNvPr id="45" name="Text 42"/>
          <p:cNvSpPr/>
          <p:nvPr/>
        </p:nvSpPr>
        <p:spPr>
          <a:xfrm>
            <a:off x="10104120" y="421538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4114800" y="4640580"/>
            <a:ext cx="7406640" cy="43891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7" name="Shape 44"/>
          <p:cNvSpPr/>
          <p:nvPr/>
        </p:nvSpPr>
        <p:spPr>
          <a:xfrm>
            <a:off x="4279392" y="4786884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8" name="Text 45"/>
          <p:cNvSpPr/>
          <p:nvPr/>
        </p:nvSpPr>
        <p:spPr>
          <a:xfrm>
            <a:off x="4572000" y="465886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15:30–16:05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126480" y="465886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restart, scattered tabs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10104120" y="4704588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94A3B8"/>
          </a:solidFill>
          <a:ln/>
        </p:spPr>
      </p:sp>
      <p:sp>
        <p:nvSpPr>
          <p:cNvPr id="51" name="Text 48"/>
          <p:cNvSpPr/>
          <p:nvPr/>
        </p:nvSpPr>
        <p:spPr>
          <a:xfrm>
            <a:off x="10104120" y="47045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focus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4279392" y="5276088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0" y="51480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16:05–17:50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6126480" y="51480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10104120" y="5193792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14B8A6"/>
          </a:solidFill>
          <a:ln/>
        </p:spPr>
      </p:sp>
      <p:sp>
        <p:nvSpPr>
          <p:cNvPr id="56" name="Text 53"/>
          <p:cNvSpPr/>
          <p:nvPr/>
        </p:nvSpPr>
        <p:spPr>
          <a:xfrm>
            <a:off x="10104120" y="519379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4279392" y="5765292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8" name="Text 55"/>
          <p:cNvSpPr/>
          <p:nvPr/>
        </p:nvSpPr>
        <p:spPr>
          <a:xfrm>
            <a:off x="4572000" y="563727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18:30–20:00</a:t>
            </a:r>
            <a:endParaRPr lang="en-US" sz="1400" dirty="0"/>
          </a:p>
        </p:txBody>
      </p:sp>
      <p:sp>
        <p:nvSpPr>
          <p:cNvPr id="59" name="Text 56"/>
          <p:cNvSpPr/>
          <p:nvPr/>
        </p:nvSpPr>
        <p:spPr>
          <a:xfrm>
            <a:off x="6126480" y="563727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 class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10104120" y="5682996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6366F1"/>
          </a:solidFill>
          <a:ln/>
        </p:spPr>
      </p:sp>
      <p:sp>
        <p:nvSpPr>
          <p:cNvPr id="61" name="Text 58"/>
          <p:cNvSpPr/>
          <p:nvPr/>
        </p:nvSpPr>
        <p:spPr>
          <a:xfrm>
            <a:off x="10104120" y="56829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050" dirty="0"/>
          </a:p>
        </p:txBody>
      </p:sp>
      <p:sp>
        <p:nvSpPr>
          <p:cNvPr id="62" name="Text 59"/>
          <p:cNvSpPr/>
          <p:nvPr/>
        </p:nvSpPr>
        <p:spPr>
          <a:xfrm>
            <a:off x="3977640" y="6327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flagged blocks </a:t>
            </a:r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raw signal the advisor explains next.</a:t>
            </a:r>
            <a:endParaRPr lang="en-US" sz="1250" dirty="0"/>
          </a:p>
        </p:txBody>
      </p:sp>
      <p:sp>
        <p:nvSpPr>
          <p:cNvPr id="63" name="Text 60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WANT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screen time — cause and cure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28016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tell you </a:t>
            </a:r>
            <a:pPr indent="0" marL="0">
              <a:buNone/>
            </a:pPr>
            <a:r>
              <a:rPr lang="en-US" sz="1700" b="1" i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happened. We want to know </a:t>
            </a:r>
            <a:pPr indent="0" marL="0">
              <a:buNone/>
            </a:pPr>
            <a:r>
              <a:rPr lang="en-US" sz="17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what single change would fix it.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280160" y="2148840"/>
            <a:ext cx="5029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80160" y="2148840"/>
            <a:ext cx="91440" cy="2331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6"/>
          <p:cNvSpPr/>
          <p:nvPr/>
        </p:nvSpPr>
        <p:spPr>
          <a:xfrm>
            <a:off x="1572768" y="2423160"/>
            <a:ext cx="566928" cy="566928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256946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31720" y="23957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Leaving the office costs me 2h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591056" y="320040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I work outside, I lose the productive atmosphere — and ~2 hours of focus before I recover it.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629400" y="2148840"/>
            <a:ext cx="5029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29400" y="2148840"/>
            <a:ext cx="91440" cy="2331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1"/>
          <p:cNvSpPr/>
          <p:nvPr/>
        </p:nvSpPr>
        <p:spPr>
          <a:xfrm>
            <a:off x="6922008" y="2423160"/>
            <a:ext cx="566928" cy="566928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56946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80960" y="23957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Skipping breakfast costs me 1h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940296" y="320040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no-breakfast days I'm sleepier and slower. On average I stay 1h longer to finish the same work.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280160" y="4800600"/>
            <a:ext cx="9601200" cy="132588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645920" y="4800600"/>
            <a:ext cx="8869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 breakdown of what you did, paired with an advisor that points to the cheapest change with the biggest payoff — applied to time, money, and energy alike.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0080"/>
            <a:ext cx="219456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advisor that lives in your phone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3108960" cy="676656"/>
          </a:xfrm>
          <a:prstGeom prst="roundRect">
            <a:avLst>
              <a:gd name="adj" fmla="val 10811"/>
            </a:avLst>
          </a:prstGeom>
          <a:solidFill>
            <a:srgbClr val="1A2B57"/>
          </a:solidFill>
          <a:ln w="12700">
            <a:solidFill>
              <a:srgbClr val="33457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239572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48716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24028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history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794760" y="2578608"/>
            <a:ext cx="9144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40080" y="3081528"/>
            <a:ext cx="3108960" cy="676656"/>
          </a:xfrm>
          <a:prstGeom prst="roundRect">
            <a:avLst>
              <a:gd name="adj" fmla="val 10811"/>
            </a:avLst>
          </a:prstGeom>
          <a:solidFill>
            <a:srgbClr val="1A2B57"/>
          </a:solidFill>
          <a:ln w="12700">
            <a:solidFill>
              <a:srgbClr val="33457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1248" y="3236976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328416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08152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history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794760" y="3419856"/>
            <a:ext cx="9144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640080" y="3922776"/>
            <a:ext cx="3108960" cy="676656"/>
          </a:xfrm>
          <a:prstGeom prst="roundRect">
            <a:avLst>
              <a:gd name="adj" fmla="val 10811"/>
            </a:avLst>
          </a:prstGeom>
          <a:solidFill>
            <a:srgbClr val="1A2B57"/>
          </a:solidFill>
          <a:ln w="12700">
            <a:solidFill>
              <a:srgbClr val="33457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41248" y="407822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169664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92277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tools usage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3794760" y="4261104"/>
            <a:ext cx="9144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640080" y="4764024"/>
            <a:ext cx="3108960" cy="676656"/>
          </a:xfrm>
          <a:prstGeom prst="roundRect">
            <a:avLst>
              <a:gd name="adj" fmla="val 10811"/>
            </a:avLst>
          </a:prstGeom>
          <a:solidFill>
            <a:srgbClr val="1A2B57"/>
          </a:solidFill>
          <a:ln w="12700">
            <a:solidFill>
              <a:srgbClr val="33457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41248" y="491947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010912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71600" y="476402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calendar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3794760" y="5102352"/>
            <a:ext cx="9144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4846320" y="237744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0D9488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733288" y="2697480"/>
            <a:ext cx="749808" cy="749808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024" y="2871216"/>
            <a:ext cx="402336" cy="40233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892040" y="35204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Self-improving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800" dirty="0"/>
          </a:p>
        </p:txBody>
      </p:sp>
      <p:sp>
        <p:nvSpPr>
          <p:cNvPr id="31" name="Text 23"/>
          <p:cNvSpPr/>
          <p:nvPr/>
        </p:nvSpPr>
        <p:spPr>
          <a:xfrm>
            <a:off x="4892040" y="4251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+ label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heuristics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7406640" y="3840480"/>
            <a:ext cx="91440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3" name="Text 25"/>
          <p:cNvSpPr/>
          <p:nvPr/>
        </p:nvSpPr>
        <p:spPr>
          <a:xfrm>
            <a:off x="841248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8412480" y="2240280"/>
            <a:ext cx="3154680" cy="841248"/>
          </a:xfrm>
          <a:prstGeom prst="roundRect">
            <a:avLst>
              <a:gd name="adj" fmla="val 8696"/>
            </a:avLst>
          </a:prstGeom>
          <a:solidFill>
            <a:srgbClr val="1A2B5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613648" y="247802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088" y="2569464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144000" y="224028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time &amp; money breakdown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>
            <a:off x="8412480" y="3246120"/>
            <a:ext cx="3154680" cy="841248"/>
          </a:xfrm>
          <a:prstGeom prst="roundRect">
            <a:avLst>
              <a:gd name="adj" fmla="val 8696"/>
            </a:avLst>
          </a:prstGeom>
          <a:solidFill>
            <a:srgbClr val="1A2B5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8613648" y="348386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5088" y="3575304"/>
            <a:ext cx="182880" cy="1828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44000" y="324612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actually going</a:t>
            </a:r>
            <a:endParaRPr lang="en-US" sz="1350" dirty="0"/>
          </a:p>
        </p:txBody>
      </p:sp>
      <p:sp>
        <p:nvSpPr>
          <p:cNvPr id="42" name="Shape 32"/>
          <p:cNvSpPr/>
          <p:nvPr/>
        </p:nvSpPr>
        <p:spPr>
          <a:xfrm>
            <a:off x="8412480" y="4251960"/>
            <a:ext cx="3154680" cy="841248"/>
          </a:xfrm>
          <a:prstGeom prst="roundRect">
            <a:avLst>
              <a:gd name="adj" fmla="val 8696"/>
            </a:avLst>
          </a:prstGeom>
          <a:solidFill>
            <a:srgbClr val="1A2B5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8613648" y="448970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5088" y="4581144"/>
            <a:ext cx="182880" cy="18288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9144000" y="425196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changes to win it back</a:t>
            </a:r>
            <a:endParaRPr lang="en-US" sz="1350" dirty="0"/>
          </a:p>
        </p:txBody>
      </p:sp>
      <p:sp>
        <p:nvSpPr>
          <p:cNvPr id="46" name="Text 35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applied to money: subscriptions, impulse spend, and the purchases that quietly don't pay off.</a:t>
            </a:r>
            <a:endParaRPr lang="en-US" sz="1300" dirty="0"/>
          </a:p>
        </p:txBody>
      </p:sp>
      <p:sp>
        <p:nvSpPr>
          <p:cNvPr id="47" name="Text 36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Dumping data into an LLM doesn't work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280160" y="1463040"/>
            <a:ext cx="4937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81328" y="176479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1481328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057400" y="157276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expensive &amp; slow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history is a firehose. Sending it all to an LLM burns tokens and minutes.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280160" y="2633472"/>
            <a:ext cx="4937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481328" y="2935224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1481328" y="2935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57400" y="274320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drowns in noise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 thousands of events, the model loses the thread and mislabels activities.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280160" y="3803904"/>
            <a:ext cx="4937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481328" y="4105656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1481328" y="4105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057400" y="3913632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personal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action means opposite things for different people.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675120" y="1463040"/>
            <a:ext cx="4937760" cy="35844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94944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action, opposite meaning</a:t>
            </a:r>
            <a:endParaRPr lang="en-US" sz="1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240280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0664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= research for one user, distraction for another</a:t>
            </a:r>
            <a:endParaRPr lang="en-US" sz="1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310896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06640" y="30632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Googling spikes = the strongest “deep work” signal for some</a:t>
            </a:r>
            <a:endParaRPr lang="en-US" sz="14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97764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6640" y="39319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LLM, IDE, or Telegram agent = the real workspace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1280160" y="5349240"/>
            <a:ext cx="10332720" cy="914400"/>
          </a:xfrm>
          <a:prstGeom prst="roundRect">
            <a:avLst>
              <a:gd name="adj" fmla="val 10000"/>
            </a:avLst>
          </a:prstGeom>
          <a:solidFill>
            <a:srgbClr val="0F1B3C"/>
          </a:solidFill>
          <a:ln/>
        </p:spPr>
      </p:sp>
      <p:sp>
        <p:nvSpPr>
          <p:cNvPr id="27" name="Text 21"/>
          <p:cNvSpPr/>
          <p:nvPr/>
        </p:nvSpPr>
        <p:spPr>
          <a:xfrm>
            <a:off x="1645920" y="5349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learn these per-user rules you need labels — but nobody wants to annotate their own day.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KEY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hard-code the rules. Build an agent that </a:t>
            </a:r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learns how to read each user</a:t>
            </a:r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315468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1A2B57"/>
          </a:solidFill>
          <a:ln w="12700">
            <a:solidFill>
              <a:srgbClr val="33457E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3429000"/>
            <a:ext cx="658368" cy="65836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358444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4224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Infers preprocessing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07008" y="468172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which raw events matter for you and compresses the rest — so the LLM never sees the firehose.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34840" y="315468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1A2B57"/>
          </a:solidFill>
          <a:ln w="12700">
            <a:solidFill>
              <a:srgbClr val="33457E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27448" y="3429000"/>
            <a:ext cx="658368" cy="65836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358444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7448" y="4224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Infers your heuristics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27448" y="468172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personal model: what your Googling, your YouTube, your locations actually mean.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955280" y="315468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1A2B57"/>
          </a:solidFill>
          <a:ln w="12700">
            <a:solidFill>
              <a:srgbClr val="33457E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3429000"/>
            <a:ext cx="658368" cy="65836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358444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7888" y="4224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Labels come for free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47888" y="468172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is harvested from a natural correction chat — no tedious tagging.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self-improving correction loop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965960"/>
            <a:ext cx="1993392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1965960"/>
            <a:ext cx="1993392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5"/>
          <p:cNvSpPr/>
          <p:nvPr/>
        </p:nvSpPr>
        <p:spPr>
          <a:xfrm>
            <a:off x="1097280" y="2258568"/>
            <a:ext cx="603504" cy="603504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240487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2295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78992" y="299008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 a breakdown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078992" y="3538728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produces a detailed, timestamped account of what you did.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912364" y="3268980"/>
            <a:ext cx="173736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072384" y="1965960"/>
            <a:ext cx="1993392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072384" y="1965960"/>
            <a:ext cx="1993392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2"/>
          <p:cNvSpPr/>
          <p:nvPr/>
        </p:nvSpPr>
        <p:spPr>
          <a:xfrm>
            <a:off x="3255264" y="2258568"/>
            <a:ext cx="603504" cy="603504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240487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41064" y="2295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236976" y="299008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correct it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3236976" y="3538728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chat with it: “that block was deep work, not browsing.”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070348" y="3268980"/>
            <a:ext cx="173736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230368" y="1965960"/>
            <a:ext cx="1993392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230368" y="1965960"/>
            <a:ext cx="1993392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9"/>
          <p:cNvSpPr/>
          <p:nvPr/>
        </p:nvSpPr>
        <p:spPr>
          <a:xfrm>
            <a:off x="5413248" y="2258568"/>
            <a:ext cx="603504" cy="603504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240487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099048" y="2295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394960" y="299008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Corrections → labels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5394960" y="3538728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becomes a clean training label — zero extra effort.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7228332" y="3268980"/>
            <a:ext cx="173736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7388352" y="1965960"/>
            <a:ext cx="1993392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388352" y="1965960"/>
            <a:ext cx="1993392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26"/>
          <p:cNvSpPr/>
          <p:nvPr/>
        </p:nvSpPr>
        <p:spPr>
          <a:xfrm>
            <a:off x="7571232" y="2258568"/>
            <a:ext cx="603504" cy="603504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36" y="2404872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257032" y="2295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7552944" y="299008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retrains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7552944" y="3538728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updates your heuristics and preprocessing on the corrected data.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9386316" y="3268980"/>
            <a:ext cx="173736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9546336" y="1965960"/>
            <a:ext cx="1993392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9546336" y="1965960"/>
            <a:ext cx="1993392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0" name="Shape 33"/>
          <p:cNvSpPr/>
          <p:nvPr/>
        </p:nvSpPr>
        <p:spPr>
          <a:xfrm>
            <a:off x="9729216" y="2258568"/>
            <a:ext cx="603504" cy="603504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2404872"/>
            <a:ext cx="310896" cy="31089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0415016" y="2295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9710928" y="299008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sharpens</a:t>
            </a:r>
            <a:endParaRPr lang="en-US" sz="1450" dirty="0"/>
          </a:p>
        </p:txBody>
      </p:sp>
      <p:sp>
        <p:nvSpPr>
          <p:cNvPr id="44" name="Text 36"/>
          <p:cNvSpPr/>
          <p:nvPr/>
        </p:nvSpPr>
        <p:spPr>
          <a:xfrm>
            <a:off x="9710928" y="3538728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pass is more precise. The loop tightens over time.</a:t>
            </a:r>
            <a:endParaRPr lang="en-US" sz="1150" dirty="0"/>
          </a:p>
        </p:txBody>
      </p:sp>
      <p:sp>
        <p:nvSpPr>
          <p:cNvPr id="45" name="Shape 37"/>
          <p:cNvSpPr/>
          <p:nvPr/>
        </p:nvSpPr>
        <p:spPr>
          <a:xfrm>
            <a:off x="1188720" y="5074920"/>
            <a:ext cx="1007668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dash"/>
            <a:headEnd type="triangle"/>
          </a:ln>
        </p:spPr>
      </p:sp>
      <p:sp>
        <p:nvSpPr>
          <p:cNvPr id="46" name="Text 38"/>
          <p:cNvSpPr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continuously — every correction makes the next breakdown sharper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precise data to effortless wins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280160" y="1417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breakdown is accurate, a second reasoning layer infers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forms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proposes changes that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no willpower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80160" y="2286000"/>
            <a:ext cx="5029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80160" y="2286000"/>
            <a:ext cx="50292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Shape 6"/>
          <p:cNvSpPr/>
          <p:nvPr/>
        </p:nvSpPr>
        <p:spPr>
          <a:xfrm>
            <a:off x="1572768" y="256032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2697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86000" y="254203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inside, not outside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91056" y="32461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midday reset — take it in the office. Leaving breaks the focus you'll spend 2h rebuilding.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629400" y="2286000"/>
            <a:ext cx="5029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29400" y="2286000"/>
            <a:ext cx="50292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Shape 11"/>
          <p:cNvSpPr/>
          <p:nvPr/>
        </p:nvSpPr>
        <p:spPr>
          <a:xfrm>
            <a:off x="6922008" y="256032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26974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35240" y="254203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 breakfast the night before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940296" y="32461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morning skip. Steadier energy means you finish on time instead of grinding into the evening.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1280160" y="4754880"/>
            <a:ext cx="10332720" cy="1508760"/>
          </a:xfrm>
          <a:prstGeom prst="roundRect">
            <a:avLst>
              <a:gd name="adj" fmla="val 6061"/>
            </a:avLst>
          </a:prstGeom>
          <a:solidFill>
            <a:srgbClr val="0F1B3C"/>
          </a:solidFill>
          <a:ln/>
        </p:spPr>
      </p:sp>
      <p:sp>
        <p:nvSpPr>
          <p:cNvPr id="20" name="Text 15"/>
          <p:cNvSpPr/>
          <p:nvPr/>
        </p:nvSpPr>
        <p:spPr>
          <a:xfrm>
            <a:off x="1554480" y="48920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5+ hrs</a:t>
            </a:r>
            <a:endParaRPr lang="en-US" sz="5400" dirty="0"/>
          </a:p>
        </p:txBody>
      </p:sp>
      <p:sp>
        <p:nvSpPr>
          <p:cNvPr id="21" name="Shape 16"/>
          <p:cNvSpPr/>
          <p:nvPr/>
        </p:nvSpPr>
        <p:spPr>
          <a:xfrm>
            <a:off x="4434840" y="5074920"/>
            <a:ext cx="0" cy="868680"/>
          </a:xfrm>
          <a:prstGeom prst="line">
            <a:avLst/>
          </a:prstGeom>
          <a:noFill/>
          <a:ln w="19050">
            <a:solidFill>
              <a:srgbClr val="33457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0" y="4754880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evening rest reclaimed per week — from changes you barely notice making.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approach wins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280160" y="1600200"/>
            <a:ext cx="5029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72768" y="1911096"/>
            <a:ext cx="640080" cy="64008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16" y="2066544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95728" y="1892808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Compressed, not raw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591056" y="267919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reasons over a small labeled structure — fast and cheap, not a token firehose.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629400" y="1600200"/>
            <a:ext cx="5029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922008" y="1911096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206654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44968" y="1892808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by design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940296" y="267919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heuristics beat a one-size model that mislabels everyone the same way.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1280160" y="3840480"/>
            <a:ext cx="5029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572768" y="4151376"/>
            <a:ext cx="640080" cy="64008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216" y="4306824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395728" y="4133088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Improves with use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1591056" y="491947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labels from correction chat make accuracy compound instead of plateau.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629400" y="3840480"/>
            <a:ext cx="5029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B3C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22008" y="4151376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56" y="4306824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44968" y="4133088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time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940296" y="491947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 surfaces wasted money — subscriptions, impulse spend, dud purchases.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463040"/>
            <a:ext cx="4572000" cy="4572000"/>
          </a:xfrm>
          <a:prstGeom prst="ellipse">
            <a:avLst/>
          </a:prstGeom>
          <a:solidFill>
            <a:srgbClr val="1A2B5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9659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personal scientist for your life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measurement.  </a:t>
            </a:r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hypotheses.  </a:t>
            </a:r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 wins.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9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learns to read your time and money, corrects itself as you talk to it, and hands back the hours you didn't know you were losing.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521208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212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Hindsight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5212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Tatiana Tushakova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Hindsight</dc:title>
  <dc:subject>PptxGenJS Presentation</dc:subject>
  <dc:creator>Tatiana Tushakova</dc:creator>
  <cp:lastModifiedBy>Tatiana Tushakova</cp:lastModifiedBy>
  <cp:revision>1</cp:revision>
  <dcterms:created xsi:type="dcterms:W3CDTF">2026-06-07T00:43:09Z</dcterms:created>
  <dcterms:modified xsi:type="dcterms:W3CDTF">2026-06-07T00:43:09Z</dcterms:modified>
</cp:coreProperties>
</file>